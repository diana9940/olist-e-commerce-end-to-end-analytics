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 Bold" charset="1" panose="00000800000000000000"/>
      <p:regular r:id="rId23"/>
    </p:embeddedFont>
    <p:embeddedFont>
      <p:font typeface="Arimo Bold" charset="1" panose="020B0704020202020204"/>
      <p:regular r:id="rId24"/>
    </p:embeddedFont>
    <p:embeddedFont>
      <p:font typeface="Montserrat" charset="1" panose="00000500000000000000"/>
      <p:regular r:id="rId25"/>
    </p:embeddedFont>
    <p:embeddedFont>
      <p:font typeface="Montaser Arabic" charset="1" panose="00000500000000000000"/>
      <p:regular r:id="rId26"/>
    </p:embeddedFont>
    <p:embeddedFont>
      <p:font typeface="Montaser Arabic Bold" charset="1" panose="00000800000000000000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8820">
            <a:off x="-3781232" y="-289149"/>
            <a:ext cx="12424807" cy="10907712"/>
            <a:chOff x="0" y="0"/>
            <a:chExt cx="69438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386" cy="609600"/>
            </a:xfrm>
            <a:custGeom>
              <a:avLst/>
              <a:gdLst/>
              <a:ahLst/>
              <a:cxnLst/>
              <a:rect r="r" b="b" t="t" l="l"/>
              <a:pathLst>
                <a:path h="609600" w="694386">
                  <a:moveTo>
                    <a:pt x="49118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94386" y="609600"/>
                  </a:lnTo>
                  <a:lnTo>
                    <a:pt x="491186" y="0"/>
                  </a:lnTo>
                  <a:close/>
                </a:path>
              </a:pathLst>
            </a:custGeom>
            <a:blipFill>
              <a:blip r:embed="rId2"/>
              <a:stretch>
                <a:fillRect l="-21" t="-7142" r="-40851" b="-132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4208774">
            <a:off x="4658980" y="1834266"/>
            <a:ext cx="1424026" cy="1106088"/>
            <a:chOff x="0" y="0"/>
            <a:chExt cx="378919" cy="2943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919" cy="294319"/>
            </a:xfrm>
            <a:custGeom>
              <a:avLst/>
              <a:gdLst/>
              <a:ahLst/>
              <a:cxnLst/>
              <a:rect r="r" b="b" t="t" l="l"/>
              <a:pathLst>
                <a:path h="294319" w="378919">
                  <a:moveTo>
                    <a:pt x="189459" y="294319"/>
                  </a:moveTo>
                  <a:lnTo>
                    <a:pt x="378919" y="0"/>
                  </a:lnTo>
                  <a:lnTo>
                    <a:pt x="0" y="0"/>
                  </a:lnTo>
                  <a:lnTo>
                    <a:pt x="189459" y="294319"/>
                  </a:lnTo>
                  <a:close/>
                </a:path>
              </a:pathLst>
            </a:custGeom>
            <a:solidFill>
              <a:srgbClr val="024A6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59206" y="-26602"/>
              <a:ext cx="260507" cy="18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4300567">
            <a:off x="5750085" y="6642960"/>
            <a:ext cx="2276442" cy="970702"/>
            <a:chOff x="0" y="0"/>
            <a:chExt cx="605738" cy="258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5738" cy="258294"/>
            </a:xfrm>
            <a:custGeom>
              <a:avLst/>
              <a:gdLst/>
              <a:ahLst/>
              <a:cxnLst/>
              <a:rect r="r" b="b" t="t" l="l"/>
              <a:pathLst>
                <a:path h="258294" w="605738">
                  <a:moveTo>
                    <a:pt x="302869" y="258294"/>
                  </a:moveTo>
                  <a:lnTo>
                    <a:pt x="605738" y="0"/>
                  </a:lnTo>
                  <a:lnTo>
                    <a:pt x="0" y="0"/>
                  </a:lnTo>
                  <a:lnTo>
                    <a:pt x="302869" y="258294"/>
                  </a:lnTo>
                  <a:close/>
                </a:path>
              </a:pathLst>
            </a:custGeom>
            <a:solidFill>
              <a:srgbClr val="024A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94647" y="-29175"/>
              <a:ext cx="416445" cy="167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37046" y="2556048"/>
            <a:ext cx="16222701" cy="4721293"/>
            <a:chOff x="0" y="0"/>
            <a:chExt cx="2094629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462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4629">
                  <a:moveTo>
                    <a:pt x="189142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094629" y="609600"/>
                  </a:lnTo>
                  <a:lnTo>
                    <a:pt x="189142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1891429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222689">
            <a:off x="391814" y="2316852"/>
            <a:ext cx="397607" cy="8625670"/>
            <a:chOff x="0" y="0"/>
            <a:chExt cx="104720" cy="22717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20" cy="2271781"/>
            </a:xfrm>
            <a:custGeom>
              <a:avLst/>
              <a:gdLst/>
              <a:ahLst/>
              <a:cxnLst/>
              <a:rect r="r" b="b" t="t" l="l"/>
              <a:pathLst>
                <a:path h="2271781" w="104720">
                  <a:moveTo>
                    <a:pt x="0" y="0"/>
                  </a:moveTo>
                  <a:lnTo>
                    <a:pt x="104720" y="0"/>
                  </a:lnTo>
                  <a:lnTo>
                    <a:pt x="104720" y="2271781"/>
                  </a:lnTo>
                  <a:lnTo>
                    <a:pt x="0" y="2271781"/>
                  </a:lnTo>
                  <a:close/>
                </a:path>
              </a:pathLst>
            </a:custGeom>
            <a:solidFill>
              <a:srgbClr val="C7EC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720" cy="231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069722" y="3107572"/>
            <a:ext cx="12064309" cy="278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1200"/>
              </a:lnSpc>
            </a:pPr>
            <a:r>
              <a:rPr lang="ar-EG" b="true" sz="8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8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Olist E-commerce Data Analysis Project</a:t>
            </a:r>
          </a:p>
        </p:txBody>
      </p:sp>
      <p:grpSp>
        <p:nvGrpSpPr>
          <p:cNvPr name="Group 17" id="17"/>
          <p:cNvGrpSpPr/>
          <p:nvPr/>
        </p:nvGrpSpPr>
        <p:grpSpPr>
          <a:xfrm rot="-1222689">
            <a:off x="-35501" y="2964506"/>
            <a:ext cx="397607" cy="8625670"/>
            <a:chOff x="0" y="0"/>
            <a:chExt cx="104720" cy="22717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720" cy="2271781"/>
            </a:xfrm>
            <a:custGeom>
              <a:avLst/>
              <a:gdLst/>
              <a:ahLst/>
              <a:cxnLst/>
              <a:rect r="r" b="b" t="t" l="l"/>
              <a:pathLst>
                <a:path h="2271781" w="104720">
                  <a:moveTo>
                    <a:pt x="0" y="0"/>
                  </a:moveTo>
                  <a:lnTo>
                    <a:pt x="104720" y="0"/>
                  </a:lnTo>
                  <a:lnTo>
                    <a:pt x="104720" y="2271781"/>
                  </a:lnTo>
                  <a:lnTo>
                    <a:pt x="0" y="2271781"/>
                  </a:lnTo>
                  <a:close/>
                </a:path>
              </a:pathLst>
            </a:custGeom>
            <a:solidFill>
              <a:srgbClr val="C7EC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4720" cy="231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551031"/>
            <a:ext cx="18288000" cy="419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Burden of Multi-Tasking: Sellers on the platform struggle with wearing multiple hats—managing inventory, tracking logistics, handling customer service, and processing orders manually.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Operational Bottleneck: Trying to handle everything alone leads to delayed shipments, missed customer expectations, and unexpected negative reviews.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Business Need: A data-driven approach is essential to automate insights, identify supply chain gaps, and scale operations efficiently without burning out.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5643096" y="-3193678"/>
            <a:ext cx="6386848" cy="8337178"/>
            <a:chOff x="0" y="0"/>
            <a:chExt cx="426031" cy="5561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3527919" y="4650566"/>
            <a:ext cx="6386848" cy="8337178"/>
            <a:chOff x="0" y="0"/>
            <a:chExt cx="426031" cy="5561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645299" y="5893439"/>
            <a:ext cx="8319804" cy="4541768"/>
          </a:xfrm>
          <a:custGeom>
            <a:avLst/>
            <a:gdLst/>
            <a:ahLst/>
            <a:cxnLst/>
            <a:rect r="r" b="b" t="t" l="l"/>
            <a:pathLst>
              <a:path h="4541768" w="8319804">
                <a:moveTo>
                  <a:pt x="0" y="0"/>
                </a:moveTo>
                <a:lnTo>
                  <a:pt x="8319804" y="0"/>
                </a:lnTo>
                <a:lnTo>
                  <a:pt x="8319804" y="4541768"/>
                </a:lnTo>
                <a:lnTo>
                  <a:pt x="0" y="4541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350139"/>
            <a:ext cx="11659256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Seller's Dilemma: Operational Overload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650" y="1793565"/>
            <a:ext cx="12179817" cy="397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047" indent="-348523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Bridge: A Brazilian marketplace integrator connecting small merchants to major online platforms.</a:t>
            </a:r>
          </a:p>
          <a:p>
            <a:pPr algn="l" marL="697047" indent="-348523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Core Role: Manages inventory, pricing, payments, and delivery tracking.</a:t>
            </a:r>
          </a:p>
          <a:p>
            <a:pPr algn="l" marL="697047" indent="-348523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Our Goal: Analyze their ecosystem data to uncover business insights.</a:t>
            </a:r>
          </a:p>
          <a:p>
            <a:pPr algn="l">
              <a:lnSpc>
                <a:spcPts val="45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23227" y="380691"/>
            <a:ext cx="7177712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1200"/>
              </a:lnSpc>
            </a:pPr>
            <a:r>
              <a:rPr lang="ar-EG" sz="8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  <a:rtl val="true"/>
              </a:rPr>
              <a:t>?</a:t>
            </a:r>
            <a:r>
              <a:rPr lang="en-US" sz="8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Who is Olist</a:t>
            </a:r>
            <a:r>
              <a:rPr lang="ar-EG" sz="8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  <a:rtl val="true"/>
              </a:rPr>
              <a:t> </a:t>
            </a:r>
          </a:p>
          <a:p>
            <a:pPr algn="r" rtl="true">
              <a:lnSpc>
                <a:spcPts val="1120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2610678" y="-2213071"/>
            <a:ext cx="4340611" cy="7226577"/>
            <a:chOff x="0" y="0"/>
            <a:chExt cx="507174" cy="8443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7174" cy="844382"/>
            </a:xfrm>
            <a:custGeom>
              <a:avLst/>
              <a:gdLst/>
              <a:ahLst/>
              <a:cxnLst/>
              <a:rect r="r" b="b" t="t" l="l"/>
              <a:pathLst>
                <a:path h="844382" w="507174">
                  <a:moveTo>
                    <a:pt x="203200" y="0"/>
                  </a:moveTo>
                  <a:lnTo>
                    <a:pt x="507174" y="0"/>
                  </a:lnTo>
                  <a:lnTo>
                    <a:pt x="303974" y="844382"/>
                  </a:lnTo>
                  <a:lnTo>
                    <a:pt x="0" y="8443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3B7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47625"/>
              <a:ext cx="303974" cy="89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13784" y="4735858"/>
            <a:ext cx="9868697" cy="5551142"/>
          </a:xfrm>
          <a:custGeom>
            <a:avLst/>
            <a:gdLst/>
            <a:ahLst/>
            <a:cxnLst/>
            <a:rect r="r" b="b" t="t" l="l"/>
            <a:pathLst>
              <a:path h="5551142" w="9868697">
                <a:moveTo>
                  <a:pt x="0" y="0"/>
                </a:moveTo>
                <a:lnTo>
                  <a:pt x="9868697" y="0"/>
                </a:lnTo>
                <a:lnTo>
                  <a:pt x="9868697" y="5551142"/>
                </a:lnTo>
                <a:lnTo>
                  <a:pt x="0" y="555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1284" y="-1199423"/>
            <a:ext cx="16292155" cy="1708722"/>
            <a:chOff x="0" y="0"/>
            <a:chExt cx="581235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2353" cy="609600"/>
            </a:xfrm>
            <a:custGeom>
              <a:avLst/>
              <a:gdLst/>
              <a:ahLst/>
              <a:cxnLst/>
              <a:rect r="r" b="b" t="t" l="l"/>
              <a:pathLst>
                <a:path h="609600" w="5812353">
                  <a:moveTo>
                    <a:pt x="560915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812353" y="609600"/>
                  </a:lnTo>
                  <a:lnTo>
                    <a:pt x="560915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5609153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1210" y="4036542"/>
            <a:ext cx="10520073" cy="6250458"/>
          </a:xfrm>
          <a:custGeom>
            <a:avLst/>
            <a:gdLst/>
            <a:ahLst/>
            <a:cxnLst/>
            <a:rect r="r" b="b" t="t" l="l"/>
            <a:pathLst>
              <a:path h="6250458" w="10520073">
                <a:moveTo>
                  <a:pt x="0" y="0"/>
                </a:moveTo>
                <a:lnTo>
                  <a:pt x="10520074" y="0"/>
                </a:lnTo>
                <a:lnTo>
                  <a:pt x="10520074" y="6250458"/>
                </a:lnTo>
                <a:lnTo>
                  <a:pt x="0" y="6250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46" r="0" b="-404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34336" y="2985796"/>
            <a:ext cx="3353562" cy="4114800"/>
          </a:xfrm>
          <a:custGeom>
            <a:avLst/>
            <a:gdLst/>
            <a:ahLst/>
            <a:cxnLst/>
            <a:rect r="r" b="b" t="t" l="l"/>
            <a:pathLst>
              <a:path h="4114800" w="3353562">
                <a:moveTo>
                  <a:pt x="0" y="0"/>
                </a:moveTo>
                <a:lnTo>
                  <a:pt x="3353562" y="0"/>
                </a:lnTo>
                <a:lnTo>
                  <a:pt x="33535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215385" y="7161771"/>
            <a:ext cx="2256696" cy="2155145"/>
          </a:xfrm>
          <a:custGeom>
            <a:avLst/>
            <a:gdLst/>
            <a:ahLst/>
            <a:cxnLst/>
            <a:rect r="r" b="b" t="t" l="l"/>
            <a:pathLst>
              <a:path h="2155145" w="2256696">
                <a:moveTo>
                  <a:pt x="2256696" y="2155144"/>
                </a:moveTo>
                <a:lnTo>
                  <a:pt x="0" y="2155144"/>
                </a:lnTo>
                <a:lnTo>
                  <a:pt x="0" y="0"/>
                </a:lnTo>
                <a:lnTo>
                  <a:pt x="2256696" y="0"/>
                </a:lnTo>
                <a:lnTo>
                  <a:pt x="2256696" y="21551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53523" y="356900"/>
            <a:ext cx="15064640" cy="262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500"/>
              </a:lnSpc>
            </a:pPr>
            <a:r>
              <a:rPr lang="en-US" sz="75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Project Scope &amp; Methodology</a:t>
            </a:r>
          </a:p>
          <a:p>
            <a:pPr algn="r" rtl="true">
              <a:lnSpc>
                <a:spcPts val="105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36889" y="2084095"/>
            <a:ext cx="13483816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Dataset Size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100K+ real Brazilian e-commerce orders (2016–2018).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Core Tables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Customers, Orders, Payments, Items, Products, and Sellers.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 Stack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Python (Pandas/Seaborn) for cleaning &amp; exploratory analysis; SQL for relational queries.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34336" y="5048250"/>
            <a:ext cx="3353562" cy="73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Schema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468468" y="3156999"/>
            <a:ext cx="6782840" cy="8854093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5643096" y="-3193678"/>
            <a:ext cx="6386848" cy="8337178"/>
            <a:chOff x="0" y="0"/>
            <a:chExt cx="426031" cy="556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85696" y="574385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88837" y="5623968"/>
            <a:ext cx="8442346" cy="4558867"/>
          </a:xfrm>
          <a:custGeom>
            <a:avLst/>
            <a:gdLst/>
            <a:ahLst/>
            <a:cxnLst/>
            <a:rect r="r" b="b" t="t" l="l"/>
            <a:pathLst>
              <a:path h="4558867" w="8442346">
                <a:moveTo>
                  <a:pt x="0" y="0"/>
                </a:moveTo>
                <a:lnTo>
                  <a:pt x="8442346" y="0"/>
                </a:lnTo>
                <a:lnTo>
                  <a:pt x="8442346" y="4558867"/>
                </a:lnTo>
                <a:lnTo>
                  <a:pt x="0" y="4558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5750063" y="170076"/>
            <a:ext cx="18128871" cy="121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9940"/>
              </a:lnSpc>
            </a:pPr>
            <a:r>
              <a:rPr lang="en-US" sz="71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Data 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789876"/>
            <a:ext cx="12956421" cy="42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057" indent="-355029" lvl="1">
              <a:lnSpc>
                <a:spcPts val="4604"/>
              </a:lnSpc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Loaded 9 Olist CSV datasets</a:t>
            </a:r>
          </a:p>
          <a:p>
            <a:pPr algn="l" marL="710057" indent="-355029" lvl="1">
              <a:lnSpc>
                <a:spcPts val="4604"/>
              </a:lnSpc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Inspected data types &amp; missing values</a:t>
            </a:r>
          </a:p>
          <a:p>
            <a:pPr algn="l" marL="710057" indent="-355029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Rem</a:t>
            </a: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oved duplicated records where applicable</a:t>
            </a:r>
          </a:p>
          <a:p>
            <a:pPr algn="l" marL="710057" indent="-355029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Handled data inconsistencies</a:t>
            </a:r>
          </a:p>
          <a:p>
            <a:pPr algn="l" marL="710057" indent="-355029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Preserved meaningful NULL values in delivery/approval dates</a:t>
            </a:r>
          </a:p>
          <a:p>
            <a:pPr algn="l" marL="710057" indent="-355029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8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Prepared clean datasets for SQL Server</a:t>
            </a:r>
          </a:p>
          <a:p>
            <a:pPr algn="l">
              <a:lnSpc>
                <a:spcPts val="60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891791" y="9796583"/>
            <a:ext cx="16292155" cy="1558835"/>
            <a:chOff x="0" y="0"/>
            <a:chExt cx="5812353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2353" cy="556127"/>
            </a:xfrm>
            <a:custGeom>
              <a:avLst/>
              <a:gdLst/>
              <a:ahLst/>
              <a:cxnLst/>
              <a:rect r="r" b="b" t="t" l="l"/>
              <a:pathLst>
                <a:path h="556127" w="5812353">
                  <a:moveTo>
                    <a:pt x="5609153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5812353" y="556127"/>
                  </a:lnTo>
                  <a:lnTo>
                    <a:pt x="560915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5609153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1284" y="-1199423"/>
            <a:ext cx="16292155" cy="1708722"/>
            <a:chOff x="0" y="0"/>
            <a:chExt cx="5812353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12353" cy="609600"/>
            </a:xfrm>
            <a:custGeom>
              <a:avLst/>
              <a:gdLst/>
              <a:ahLst/>
              <a:cxnLst/>
              <a:rect r="r" b="b" t="t" l="l"/>
              <a:pathLst>
                <a:path h="609600" w="5812353">
                  <a:moveTo>
                    <a:pt x="560915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812353" y="609600"/>
                  </a:lnTo>
                  <a:lnTo>
                    <a:pt x="560915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5609153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287557" y="1558757"/>
            <a:ext cx="10146478" cy="5722050"/>
            <a:chOff x="0" y="0"/>
            <a:chExt cx="2672323" cy="1507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2323" cy="1507042"/>
            </a:xfrm>
            <a:custGeom>
              <a:avLst/>
              <a:gdLst/>
              <a:ahLst/>
              <a:cxnLst/>
              <a:rect r="r" b="b" t="t" l="l"/>
              <a:pathLst>
                <a:path h="1507042" w="2672323">
                  <a:moveTo>
                    <a:pt x="38914" y="0"/>
                  </a:moveTo>
                  <a:lnTo>
                    <a:pt x="2633410" y="0"/>
                  </a:lnTo>
                  <a:cubicBezTo>
                    <a:pt x="2643730" y="0"/>
                    <a:pt x="2653628" y="4100"/>
                    <a:pt x="2660926" y="11398"/>
                  </a:cubicBezTo>
                  <a:cubicBezTo>
                    <a:pt x="2668224" y="18695"/>
                    <a:pt x="2672323" y="28593"/>
                    <a:pt x="2672323" y="38914"/>
                  </a:cubicBezTo>
                  <a:lnTo>
                    <a:pt x="2672323" y="1468128"/>
                  </a:lnTo>
                  <a:cubicBezTo>
                    <a:pt x="2672323" y="1489620"/>
                    <a:pt x="2654901" y="1507042"/>
                    <a:pt x="2633410" y="1507042"/>
                  </a:cubicBezTo>
                  <a:lnTo>
                    <a:pt x="38914" y="1507042"/>
                  </a:lnTo>
                  <a:cubicBezTo>
                    <a:pt x="17422" y="1507042"/>
                    <a:pt x="0" y="1489620"/>
                    <a:pt x="0" y="1468128"/>
                  </a:cubicBezTo>
                  <a:lnTo>
                    <a:pt x="0" y="38914"/>
                  </a:lnTo>
                  <a:cubicBezTo>
                    <a:pt x="0" y="28593"/>
                    <a:pt x="4100" y="18695"/>
                    <a:pt x="11398" y="11398"/>
                  </a:cubicBezTo>
                  <a:cubicBezTo>
                    <a:pt x="18695" y="4100"/>
                    <a:pt x="28593" y="0"/>
                    <a:pt x="38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672323" cy="1554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644573" y="1961162"/>
            <a:ext cx="9067780" cy="5000438"/>
          </a:xfrm>
          <a:custGeom>
            <a:avLst/>
            <a:gdLst/>
            <a:ahLst/>
            <a:cxnLst/>
            <a:rect r="r" b="b" t="t" l="l"/>
            <a:pathLst>
              <a:path h="5000438" w="9067780">
                <a:moveTo>
                  <a:pt x="0" y="0"/>
                </a:moveTo>
                <a:lnTo>
                  <a:pt x="9067780" y="0"/>
                </a:lnTo>
                <a:lnTo>
                  <a:pt x="9067780" y="5000437"/>
                </a:lnTo>
                <a:lnTo>
                  <a:pt x="0" y="5000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1897132" y="2191265"/>
            <a:ext cx="11041132" cy="4905421"/>
            <a:chOff x="0" y="0"/>
            <a:chExt cx="2907952" cy="12919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7953" cy="1291963"/>
            </a:xfrm>
            <a:custGeom>
              <a:avLst/>
              <a:gdLst/>
              <a:ahLst/>
              <a:cxnLst/>
              <a:rect r="r" b="b" t="t" l="l"/>
              <a:pathLst>
                <a:path h="1291963" w="2907953">
                  <a:moveTo>
                    <a:pt x="35761" y="0"/>
                  </a:moveTo>
                  <a:lnTo>
                    <a:pt x="2872192" y="0"/>
                  </a:lnTo>
                  <a:cubicBezTo>
                    <a:pt x="2891942" y="0"/>
                    <a:pt x="2907953" y="16011"/>
                    <a:pt x="2907953" y="35761"/>
                  </a:cubicBezTo>
                  <a:lnTo>
                    <a:pt x="2907953" y="1256202"/>
                  </a:lnTo>
                  <a:cubicBezTo>
                    <a:pt x="2907953" y="1275952"/>
                    <a:pt x="2891942" y="1291963"/>
                    <a:pt x="2872192" y="1291963"/>
                  </a:cubicBezTo>
                  <a:lnTo>
                    <a:pt x="35761" y="1291963"/>
                  </a:lnTo>
                  <a:cubicBezTo>
                    <a:pt x="16011" y="1291963"/>
                    <a:pt x="0" y="1275952"/>
                    <a:pt x="0" y="1256202"/>
                  </a:cubicBezTo>
                  <a:lnTo>
                    <a:pt x="0" y="35761"/>
                  </a:lnTo>
                  <a:cubicBezTo>
                    <a:pt x="0" y="16011"/>
                    <a:pt x="16011" y="0"/>
                    <a:pt x="357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907952" cy="1339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69678" y="2750067"/>
            <a:ext cx="9205030" cy="3788747"/>
          </a:xfrm>
          <a:custGeom>
            <a:avLst/>
            <a:gdLst/>
            <a:ahLst/>
            <a:cxnLst/>
            <a:rect r="r" b="b" t="t" l="l"/>
            <a:pathLst>
              <a:path h="3788747" w="9205030">
                <a:moveTo>
                  <a:pt x="0" y="0"/>
                </a:moveTo>
                <a:lnTo>
                  <a:pt x="9205030" y="0"/>
                </a:lnTo>
                <a:lnTo>
                  <a:pt x="9205030" y="3788747"/>
                </a:lnTo>
                <a:lnTo>
                  <a:pt x="0" y="3788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26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54287" y="8195207"/>
            <a:ext cx="10066540" cy="59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Investigating N</a:t>
            </a:r>
            <a:r>
              <a:rPr lang="en-US" b="true" sz="3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ull Values &amp; Order Status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353" y="650598"/>
            <a:ext cx="7059613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</a:t>
            </a: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 Transformation &amp; Datetime Parsing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643096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79623" y="5138185"/>
            <a:ext cx="12098550" cy="3839842"/>
          </a:xfrm>
          <a:custGeom>
            <a:avLst/>
            <a:gdLst/>
            <a:ahLst/>
            <a:cxnLst/>
            <a:rect r="r" b="b" t="t" l="l"/>
            <a:pathLst>
              <a:path h="3839842" w="12098550">
                <a:moveTo>
                  <a:pt x="0" y="0"/>
                </a:moveTo>
                <a:lnTo>
                  <a:pt x="12098551" y="0"/>
                </a:lnTo>
                <a:lnTo>
                  <a:pt x="12098551" y="3839842"/>
                </a:lnTo>
                <a:lnTo>
                  <a:pt x="0" y="3839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-3193424" y="4400425"/>
            <a:ext cx="6386848" cy="8337178"/>
            <a:chOff x="0" y="0"/>
            <a:chExt cx="426031" cy="5561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4055888"/>
            <a:ext cx="3511367" cy="3002218"/>
          </a:xfrm>
          <a:custGeom>
            <a:avLst/>
            <a:gdLst/>
            <a:ahLst/>
            <a:cxnLst/>
            <a:rect r="r" b="b" t="t" l="l"/>
            <a:pathLst>
              <a:path h="3002218" w="3511367">
                <a:moveTo>
                  <a:pt x="0" y="0"/>
                </a:moveTo>
                <a:lnTo>
                  <a:pt x="3511367" y="0"/>
                </a:lnTo>
                <a:lnTo>
                  <a:pt x="3511367" y="3002218"/>
                </a:lnTo>
                <a:lnTo>
                  <a:pt x="0" y="300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46709"/>
            <a:ext cx="11833523" cy="68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Identifying Delivery Bottlenecks &amp; Late Shipments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564" y="1464658"/>
            <a:ext cx="16396990" cy="2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Insight: Detected that 8.1% </a:t>
            </a:r>
            <a:r>
              <a:rPr lang="en-US" b="true" sz="2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of successfully delivered orders missed their estimated delivery date.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Impact: Highlights supply chain and logistics delays affecting customer satisfaction.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1284" y="-1199423"/>
            <a:ext cx="16292155" cy="1708722"/>
            <a:chOff x="0" y="0"/>
            <a:chExt cx="581235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2353" cy="609600"/>
            </a:xfrm>
            <a:custGeom>
              <a:avLst/>
              <a:gdLst/>
              <a:ahLst/>
              <a:cxnLst/>
              <a:rect r="r" b="b" t="t" l="l"/>
              <a:pathLst>
                <a:path h="609600" w="5812353">
                  <a:moveTo>
                    <a:pt x="560915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812353" y="609600"/>
                  </a:lnTo>
                  <a:lnTo>
                    <a:pt x="560915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5609153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7606" y="6454514"/>
            <a:ext cx="9582356" cy="3587395"/>
          </a:xfrm>
          <a:custGeom>
            <a:avLst/>
            <a:gdLst/>
            <a:ahLst/>
            <a:cxnLst/>
            <a:rect r="r" b="b" t="t" l="l"/>
            <a:pathLst>
              <a:path h="3587395" w="9582356">
                <a:moveTo>
                  <a:pt x="0" y="0"/>
                </a:moveTo>
                <a:lnTo>
                  <a:pt x="9582356" y="0"/>
                </a:lnTo>
                <a:lnTo>
                  <a:pt x="9582356" y="3587395"/>
                </a:lnTo>
                <a:lnTo>
                  <a:pt x="0" y="3587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91164" y="5745353"/>
            <a:ext cx="5422056" cy="4296555"/>
          </a:xfrm>
          <a:custGeom>
            <a:avLst/>
            <a:gdLst/>
            <a:ahLst/>
            <a:cxnLst/>
            <a:rect r="r" b="b" t="t" l="l"/>
            <a:pathLst>
              <a:path h="4296555" w="5422056">
                <a:moveTo>
                  <a:pt x="0" y="0"/>
                </a:moveTo>
                <a:lnTo>
                  <a:pt x="5422057" y="0"/>
                </a:lnTo>
                <a:lnTo>
                  <a:pt x="5422057" y="4296556"/>
                </a:lnTo>
                <a:lnTo>
                  <a:pt x="0" y="4296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648335"/>
            <a:ext cx="13004906" cy="64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Handling Missing Product Categories &amp; Feature Limitation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606" y="1661952"/>
            <a:ext cx="16230600" cy="418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Attempted Approach: Tried to impute missing category names by mapping product weights and dimensions (e.g., testing if specific weights correlate with unique categories). 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Finding: Found that physical features like weight (e.g., 650g) overlap across multiple different categories, proving that simple imputation won't work accurately. 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Analytical Takeaway: Emphasizes data integrity—recognizing when missing data cannot be reliably filled without risking data distortion, choosing to keep them as-is rather than making inaccurate assumptions.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5521" y="-4042396"/>
            <a:ext cx="6742347" cy="8705444"/>
            <a:chOff x="0" y="0"/>
            <a:chExt cx="472134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134" cy="609600"/>
            </a:xfrm>
            <a:custGeom>
              <a:avLst/>
              <a:gdLst/>
              <a:ahLst/>
              <a:cxnLst/>
              <a:rect r="r" b="b" t="t" l="l"/>
              <a:pathLst>
                <a:path h="609600" w="472134">
                  <a:moveTo>
                    <a:pt x="268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72134" y="609600"/>
                  </a:lnTo>
                  <a:lnTo>
                    <a:pt x="268934" y="0"/>
                  </a:lnTo>
                  <a:close/>
                </a:path>
              </a:pathLst>
            </a:custGeom>
            <a:solidFill>
              <a:srgbClr val="43B79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68934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03557" y="5565253"/>
            <a:ext cx="12971035" cy="4426346"/>
          </a:xfrm>
          <a:custGeom>
            <a:avLst/>
            <a:gdLst/>
            <a:ahLst/>
            <a:cxnLst/>
            <a:rect r="r" b="b" t="t" l="l"/>
            <a:pathLst>
              <a:path h="4426346" w="12971035">
                <a:moveTo>
                  <a:pt x="0" y="0"/>
                </a:moveTo>
                <a:lnTo>
                  <a:pt x="12971035" y="0"/>
                </a:lnTo>
                <a:lnTo>
                  <a:pt x="12971035" y="4426346"/>
                </a:lnTo>
                <a:lnTo>
                  <a:pt x="0" y="4426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20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5509" y="5312658"/>
            <a:ext cx="3858048" cy="2160507"/>
          </a:xfrm>
          <a:custGeom>
            <a:avLst/>
            <a:gdLst/>
            <a:ahLst/>
            <a:cxnLst/>
            <a:rect r="r" b="b" t="t" l="l"/>
            <a:pathLst>
              <a:path h="2160507" w="3858048">
                <a:moveTo>
                  <a:pt x="0" y="0"/>
                </a:moveTo>
                <a:lnTo>
                  <a:pt x="3858048" y="0"/>
                </a:lnTo>
                <a:lnTo>
                  <a:pt x="3858048" y="2160507"/>
                </a:lnTo>
                <a:lnTo>
                  <a:pt x="0" y="2160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57016" y="6461713"/>
            <a:ext cx="2242566" cy="4114800"/>
          </a:xfrm>
          <a:custGeom>
            <a:avLst/>
            <a:gdLst/>
            <a:ahLst/>
            <a:cxnLst/>
            <a:rect r="r" b="b" t="t" l="l"/>
            <a:pathLst>
              <a:path h="4114800" w="2242566">
                <a:moveTo>
                  <a:pt x="0" y="0"/>
                </a:moveTo>
                <a:lnTo>
                  <a:pt x="2242566" y="0"/>
                </a:lnTo>
                <a:lnTo>
                  <a:pt x="22425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8276" y="215076"/>
            <a:ext cx="12035344" cy="66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Retention &amp; Repeat Purchasing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8276" y="1557580"/>
            <a:ext cx="17228032" cy="30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Insight: The vast majority of Olist customers are one-time buyers (~93K), showing relatively low repeat purchasing behavior.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Business Question: Why is repeat purchasing low, and how can Olist increase customer retention and loyalty?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Strategic Recommendation: Implement targeted email marketing campaigns, follow-up discounts, and loyalty programs to drive customer lifetime value (LTV).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36079" y="5527673"/>
            <a:ext cx="9333040" cy="5297580"/>
          </a:xfrm>
          <a:custGeom>
            <a:avLst/>
            <a:gdLst/>
            <a:ahLst/>
            <a:cxnLst/>
            <a:rect r="r" b="b" t="t" l="l"/>
            <a:pathLst>
              <a:path h="5297580" w="9333040">
                <a:moveTo>
                  <a:pt x="0" y="0"/>
                </a:moveTo>
                <a:lnTo>
                  <a:pt x="9333040" y="0"/>
                </a:lnTo>
                <a:lnTo>
                  <a:pt x="9333040" y="5297580"/>
                </a:lnTo>
                <a:lnTo>
                  <a:pt x="0" y="5297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507262"/>
            <a:ext cx="18288000" cy="393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Insight: The majority of customer reviews are positive, with 5-star ratings dominating the dataset (~57K).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Challenge: A noticeable volume of 1-star reviews (~11.4K) indicates underlying customer pain points, which strongly correlates with the delivery delays we discovered earlier.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Strategic Value: Tracking review scores helps Olist identify dissatisfaction drivers, improve service quality, and protect platform reputation.</a:t>
            </a:r>
          </a:p>
        </p:txBody>
      </p:sp>
      <p:grpSp>
        <p:nvGrpSpPr>
          <p:cNvPr name="Group 7" id="7"/>
          <p:cNvGrpSpPr/>
          <p:nvPr/>
        </p:nvGrpSpPr>
        <p:grpSpPr>
          <a:xfrm rot="-10800000">
            <a:off x="-3193424" y="4494228"/>
            <a:ext cx="6386848" cy="8337178"/>
            <a:chOff x="0" y="0"/>
            <a:chExt cx="426031" cy="5561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113980" y="5837654"/>
            <a:ext cx="3867912" cy="4114800"/>
          </a:xfrm>
          <a:custGeom>
            <a:avLst/>
            <a:gdLst/>
            <a:ahLst/>
            <a:cxnLst/>
            <a:rect r="r" b="b" t="t" l="l"/>
            <a:pathLst>
              <a:path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350139"/>
            <a:ext cx="12851988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Satisfaction &amp; Review Score Distribution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3347" y="7627095"/>
            <a:ext cx="8422950" cy="2225291"/>
          </a:xfrm>
          <a:custGeom>
            <a:avLst/>
            <a:gdLst/>
            <a:ahLst/>
            <a:cxnLst/>
            <a:rect r="r" b="b" t="t" l="l"/>
            <a:pathLst>
              <a:path h="2225291" w="8422950">
                <a:moveTo>
                  <a:pt x="0" y="0"/>
                </a:moveTo>
                <a:lnTo>
                  <a:pt x="8422949" y="0"/>
                </a:lnTo>
                <a:lnTo>
                  <a:pt x="8422949" y="2225291"/>
                </a:lnTo>
                <a:lnTo>
                  <a:pt x="0" y="222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6062009"/>
            <a:ext cx="8848087" cy="3790376"/>
          </a:xfrm>
          <a:custGeom>
            <a:avLst/>
            <a:gdLst/>
            <a:ahLst/>
            <a:cxnLst/>
            <a:rect r="r" b="b" t="t" l="l"/>
            <a:pathLst>
              <a:path h="3790376" w="8848087">
                <a:moveTo>
                  <a:pt x="0" y="0"/>
                </a:moveTo>
                <a:lnTo>
                  <a:pt x="8848087" y="0"/>
                </a:lnTo>
                <a:lnTo>
                  <a:pt x="8848087" y="3790377"/>
                </a:lnTo>
                <a:lnTo>
                  <a:pt x="0" y="3790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3347" y="5140801"/>
            <a:ext cx="8422950" cy="2258233"/>
          </a:xfrm>
          <a:custGeom>
            <a:avLst/>
            <a:gdLst/>
            <a:ahLst/>
            <a:cxnLst/>
            <a:rect r="r" b="b" t="t" l="l"/>
            <a:pathLst>
              <a:path h="2258233" w="8422950">
                <a:moveTo>
                  <a:pt x="0" y="0"/>
                </a:moveTo>
                <a:lnTo>
                  <a:pt x="8422949" y="0"/>
                </a:lnTo>
                <a:lnTo>
                  <a:pt x="8422949" y="2258233"/>
                </a:lnTo>
                <a:lnTo>
                  <a:pt x="0" y="2258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6379" y="424892"/>
            <a:ext cx="11994952" cy="75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Handling Payment Anomalies &amp; Data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141" y="1548055"/>
            <a:ext cx="18288000" cy="325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nomaly Detection: Identified 3 anomalous payment records labeled as not_defined with a payment value of 0.0. </a:t>
            </a:r>
          </a:p>
          <a:p>
            <a:pPr algn="l" marL="669283" indent="-334641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Root Cause Investigation: Cross-referenced these payment IDs with the orders dataset to reveal that 100% of these anomalous orders were canceled. </a:t>
            </a:r>
          </a:p>
          <a:p>
            <a:pPr algn="l" marL="669283" indent="-334641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Cleaning Action: Created a filtered dataset (clean_payments) by dropping undefined payment types to ensure accurate financial and payment analytics.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17172" y="4039841"/>
            <a:ext cx="8546067" cy="6272113"/>
          </a:xfrm>
          <a:custGeom>
            <a:avLst/>
            <a:gdLst/>
            <a:ahLst/>
            <a:cxnLst/>
            <a:rect r="r" b="b" t="t" l="l"/>
            <a:pathLst>
              <a:path h="6272113" w="8546067">
                <a:moveTo>
                  <a:pt x="0" y="0"/>
                </a:moveTo>
                <a:lnTo>
                  <a:pt x="8546066" y="0"/>
                </a:lnTo>
                <a:lnTo>
                  <a:pt x="8546066" y="6272114"/>
                </a:lnTo>
                <a:lnTo>
                  <a:pt x="0" y="6272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-3559187" y="3493663"/>
            <a:ext cx="6386848" cy="8337178"/>
            <a:chOff x="0" y="0"/>
            <a:chExt cx="426031" cy="5561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28721" y="6545356"/>
            <a:ext cx="3663061" cy="2509196"/>
          </a:xfrm>
          <a:custGeom>
            <a:avLst/>
            <a:gdLst/>
            <a:ahLst/>
            <a:cxnLst/>
            <a:rect r="r" b="b" t="t" l="l"/>
            <a:pathLst>
              <a:path h="2509196" w="3663061">
                <a:moveTo>
                  <a:pt x="0" y="0"/>
                </a:moveTo>
                <a:lnTo>
                  <a:pt x="3663061" y="0"/>
                </a:lnTo>
                <a:lnTo>
                  <a:pt x="3663061" y="2509197"/>
                </a:lnTo>
                <a:lnTo>
                  <a:pt x="0" y="2509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48282" y="5440543"/>
            <a:ext cx="1137223" cy="1137223"/>
          </a:xfrm>
          <a:custGeom>
            <a:avLst/>
            <a:gdLst/>
            <a:ahLst/>
            <a:cxnLst/>
            <a:rect r="r" b="b" t="t" l="l"/>
            <a:pathLst>
              <a:path h="1137223" w="1137223">
                <a:moveTo>
                  <a:pt x="0" y="0"/>
                </a:moveTo>
                <a:lnTo>
                  <a:pt x="1137223" y="0"/>
                </a:lnTo>
                <a:lnTo>
                  <a:pt x="1137223" y="1137223"/>
                </a:lnTo>
                <a:lnTo>
                  <a:pt x="0" y="1137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51311" y="5620291"/>
            <a:ext cx="1526774" cy="1145080"/>
          </a:xfrm>
          <a:custGeom>
            <a:avLst/>
            <a:gdLst/>
            <a:ahLst/>
            <a:cxnLst/>
            <a:rect r="r" b="b" t="t" l="l"/>
            <a:pathLst>
              <a:path h="1145080" w="1526774">
                <a:moveTo>
                  <a:pt x="0" y="0"/>
                </a:moveTo>
                <a:lnTo>
                  <a:pt x="1526774" y="0"/>
                </a:lnTo>
                <a:lnTo>
                  <a:pt x="1526774" y="1145081"/>
                </a:lnTo>
                <a:lnTo>
                  <a:pt x="0" y="1145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456160"/>
            <a:ext cx="11284044" cy="75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Database Migration &amp; Pipeline 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714743"/>
            <a:ext cx="18288000" cy="198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Pipeline Setup: Connected Python to SQL Server via SQLAlchemy and pyodbc. 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Ingestion: Exported cleaned DataFrames into relational SQL tables (orderData, payments, products, etc.). 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Next Step: Moving to SQL for advanced querying and relational analysis.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2457" y="1835095"/>
            <a:ext cx="8024661" cy="3278757"/>
          </a:xfrm>
          <a:custGeom>
            <a:avLst/>
            <a:gdLst/>
            <a:ahLst/>
            <a:cxnLst/>
            <a:rect r="r" b="b" t="t" l="l"/>
            <a:pathLst>
              <a:path h="3278757" w="8024661">
                <a:moveTo>
                  <a:pt x="0" y="0"/>
                </a:moveTo>
                <a:lnTo>
                  <a:pt x="8024661" y="0"/>
                </a:lnTo>
                <a:lnTo>
                  <a:pt x="8024661" y="3278757"/>
                </a:lnTo>
                <a:lnTo>
                  <a:pt x="0" y="3278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51247" y="2893121"/>
            <a:ext cx="1297165" cy="648582"/>
          </a:xfrm>
          <a:custGeom>
            <a:avLst/>
            <a:gdLst/>
            <a:ahLst/>
            <a:cxnLst/>
            <a:rect r="r" b="b" t="t" l="l"/>
            <a:pathLst>
              <a:path h="648582" w="1297165">
                <a:moveTo>
                  <a:pt x="0" y="0"/>
                </a:moveTo>
                <a:lnTo>
                  <a:pt x="1297165" y="0"/>
                </a:lnTo>
                <a:lnTo>
                  <a:pt x="1297165" y="648582"/>
                </a:lnTo>
                <a:lnTo>
                  <a:pt x="0" y="64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63137" y="1028700"/>
            <a:ext cx="5574044" cy="5391289"/>
          </a:xfrm>
          <a:custGeom>
            <a:avLst/>
            <a:gdLst/>
            <a:ahLst/>
            <a:cxnLst/>
            <a:rect r="r" b="b" t="t" l="l"/>
            <a:pathLst>
              <a:path h="5391289" w="5574044">
                <a:moveTo>
                  <a:pt x="0" y="0"/>
                </a:moveTo>
                <a:lnTo>
                  <a:pt x="5574044" y="0"/>
                </a:lnTo>
                <a:lnTo>
                  <a:pt x="5574044" y="5391289"/>
                </a:lnTo>
                <a:lnTo>
                  <a:pt x="0" y="539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99830" y="7123657"/>
            <a:ext cx="9420889" cy="2134643"/>
          </a:xfrm>
          <a:custGeom>
            <a:avLst/>
            <a:gdLst/>
            <a:ahLst/>
            <a:cxnLst/>
            <a:rect r="r" b="b" t="t" l="l"/>
            <a:pathLst>
              <a:path h="2134643" w="9420889">
                <a:moveTo>
                  <a:pt x="0" y="0"/>
                </a:moveTo>
                <a:lnTo>
                  <a:pt x="9420889" y="0"/>
                </a:lnTo>
                <a:lnTo>
                  <a:pt x="9420889" y="2134643"/>
                </a:lnTo>
                <a:lnTo>
                  <a:pt x="0" y="213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102665" y="7866688"/>
            <a:ext cx="1297165" cy="648582"/>
          </a:xfrm>
          <a:custGeom>
            <a:avLst/>
            <a:gdLst/>
            <a:ahLst/>
            <a:cxnLst/>
            <a:rect r="r" b="b" t="t" l="l"/>
            <a:pathLst>
              <a:path h="648582" w="1297165">
                <a:moveTo>
                  <a:pt x="1297165" y="0"/>
                </a:moveTo>
                <a:lnTo>
                  <a:pt x="0" y="0"/>
                </a:lnTo>
                <a:lnTo>
                  <a:pt x="0" y="648582"/>
                </a:lnTo>
                <a:lnTo>
                  <a:pt x="1297165" y="648582"/>
                </a:lnTo>
                <a:lnTo>
                  <a:pt x="129716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2457" y="6454576"/>
            <a:ext cx="6701265" cy="2824224"/>
          </a:xfrm>
          <a:custGeom>
            <a:avLst/>
            <a:gdLst/>
            <a:ahLst/>
            <a:cxnLst/>
            <a:rect r="r" b="b" t="t" l="l"/>
            <a:pathLst>
              <a:path h="2824224" w="6701265">
                <a:moveTo>
                  <a:pt x="0" y="0"/>
                </a:moveTo>
                <a:lnTo>
                  <a:pt x="6701265" y="0"/>
                </a:lnTo>
                <a:lnTo>
                  <a:pt x="6701265" y="2824224"/>
                </a:lnTo>
                <a:lnTo>
                  <a:pt x="0" y="2824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5023" y="237286"/>
            <a:ext cx="9346109" cy="75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Advanced SQL Analysis &amp; Querying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3559187" y="3493663"/>
            <a:ext cx="6386848" cy="8337178"/>
            <a:chOff x="0" y="0"/>
            <a:chExt cx="426031" cy="556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84" r="0" b="-152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237181" y="-3193678"/>
            <a:ext cx="6386848" cy="8337178"/>
            <a:chOff x="0" y="0"/>
            <a:chExt cx="426031" cy="556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3465384" y="3462395"/>
            <a:ext cx="6386848" cy="8337178"/>
            <a:chOff x="0" y="0"/>
            <a:chExt cx="426031" cy="556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031" cy="556127"/>
            </a:xfrm>
            <a:custGeom>
              <a:avLst/>
              <a:gdLst/>
              <a:ahLst/>
              <a:cxnLst/>
              <a:rect r="r" b="b" t="t" l="l"/>
              <a:pathLst>
                <a:path h="556127" w="426031">
                  <a:moveTo>
                    <a:pt x="222831" y="0"/>
                  </a:moveTo>
                  <a:lnTo>
                    <a:pt x="0" y="0"/>
                  </a:lnTo>
                  <a:lnTo>
                    <a:pt x="203200" y="556127"/>
                  </a:lnTo>
                  <a:lnTo>
                    <a:pt x="426031" y="556127"/>
                  </a:lnTo>
                  <a:lnTo>
                    <a:pt x="22283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22831" cy="603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70873" y="6150331"/>
            <a:ext cx="3353562" cy="4114800"/>
          </a:xfrm>
          <a:custGeom>
            <a:avLst/>
            <a:gdLst/>
            <a:ahLst/>
            <a:cxnLst/>
            <a:rect r="r" b="b" t="t" l="l"/>
            <a:pathLst>
              <a:path h="4114800" w="3353562">
                <a:moveTo>
                  <a:pt x="0" y="0"/>
                </a:moveTo>
                <a:lnTo>
                  <a:pt x="3353562" y="0"/>
                </a:lnTo>
                <a:lnTo>
                  <a:pt x="33535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5344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1429" y="297178"/>
            <a:ext cx="12832457" cy="73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Strategic Solutions &amp; Business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058" y="1665225"/>
            <a:ext cx="17493555" cy="44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18" indent="-303959" lvl="1">
              <a:lnSpc>
                <a:spcPts val="3942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Logistics &amp; Delivery Optimization:</a:t>
            </a:r>
          </a:p>
          <a:p>
            <a:pPr algn="l" marL="1215837" indent="-405279" lvl="2">
              <a:lnSpc>
                <a:spcPts val="3942"/>
              </a:lnSpc>
              <a:buFont typeface="Arial"/>
              <a:buChar char="⚬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Monitor and filter poor-performing shipping carriers to minimize delay rates.</a:t>
            </a:r>
          </a:p>
          <a:p>
            <a:pPr algn="l" marL="1215837" indent="-405279" lvl="2">
              <a:lnSpc>
                <a:spcPts val="3942"/>
              </a:lnSpc>
              <a:buFont typeface="Arial"/>
              <a:buChar char="⚬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Update delivery estimation algorithms to manage customer expectations accurately.</a:t>
            </a:r>
          </a:p>
          <a:p>
            <a:pPr algn="l" marL="607918" indent="-303959" lvl="1">
              <a:lnSpc>
                <a:spcPts val="3942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Seller Operational Support:</a:t>
            </a:r>
          </a:p>
          <a:p>
            <a:pPr algn="l" marL="1215837" indent="-405279" lvl="2">
              <a:lnSpc>
                <a:spcPts val="3942"/>
              </a:lnSpc>
              <a:buFont typeface="Arial"/>
              <a:buChar char="⚬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Introduce proactive warning systems for merchants facing order bottlenecks.</a:t>
            </a:r>
          </a:p>
          <a:p>
            <a:pPr algn="l" marL="1215837" indent="-405279" lvl="2">
              <a:lnSpc>
                <a:spcPts val="3942"/>
              </a:lnSpc>
              <a:buFont typeface="Arial"/>
              <a:buChar char="⚬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Provide automated inventory and processing guidelines to prevent operational overload.</a:t>
            </a:r>
          </a:p>
          <a:p>
            <a:pPr algn="l" marL="607918" indent="-303959" lvl="1">
              <a:lnSpc>
                <a:spcPts val="3942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Retention Strategy:</a:t>
            </a:r>
          </a:p>
          <a:p>
            <a:pPr algn="l" marL="1259019" indent="-419673" lvl="2">
              <a:lnSpc>
                <a:spcPts val="4082"/>
              </a:lnSpc>
              <a:buFont typeface="Arial"/>
              <a:buChar char="⚬"/>
            </a:pPr>
            <a:r>
              <a:rPr lang="en-US" b="true" sz="29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Launch automated second-purchase incentives and loyalty programs to drive repeat orders.</a:t>
            </a:r>
          </a:p>
          <a:p>
            <a:pPr algn="l" marL="1259019" indent="-419673" lvl="2">
              <a:lnSpc>
                <a:spcPts val="4082"/>
              </a:lnSpc>
              <a:buFont typeface="Arial"/>
              <a:buChar char="⚬"/>
            </a:pPr>
            <a:r>
              <a:rPr lang="en-US" b="true" sz="291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Address root causes of negative reviews to rebuild long-term marketplace trust.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EFE">
                <a:alpha val="100000"/>
              </a:srgbClr>
            </a:gs>
            <a:gs pos="50000">
              <a:srgbClr val="EDF9FF">
                <a:alpha val="100000"/>
              </a:srgbClr>
            </a:gs>
            <a:gs pos="100000">
              <a:srgbClr val="F1FB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8820">
            <a:off x="-3781232" y="-289149"/>
            <a:ext cx="12424807" cy="10907712"/>
            <a:chOff x="0" y="0"/>
            <a:chExt cx="69438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386" cy="609600"/>
            </a:xfrm>
            <a:custGeom>
              <a:avLst/>
              <a:gdLst/>
              <a:ahLst/>
              <a:cxnLst/>
              <a:rect r="r" b="b" t="t" l="l"/>
              <a:pathLst>
                <a:path h="609600" w="694386">
                  <a:moveTo>
                    <a:pt x="49118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94386" y="609600"/>
                  </a:lnTo>
                  <a:lnTo>
                    <a:pt x="491186" y="0"/>
                  </a:lnTo>
                  <a:close/>
                </a:path>
              </a:pathLst>
            </a:custGeom>
            <a:blipFill>
              <a:blip r:embed="rId2"/>
              <a:stretch>
                <a:fillRect l="-21" t="-7142" r="-40851" b="-132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4208774">
            <a:off x="4658980" y="1834266"/>
            <a:ext cx="1424026" cy="1106088"/>
            <a:chOff x="0" y="0"/>
            <a:chExt cx="378919" cy="2943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919" cy="294319"/>
            </a:xfrm>
            <a:custGeom>
              <a:avLst/>
              <a:gdLst/>
              <a:ahLst/>
              <a:cxnLst/>
              <a:rect r="r" b="b" t="t" l="l"/>
              <a:pathLst>
                <a:path h="294319" w="378919">
                  <a:moveTo>
                    <a:pt x="189459" y="294319"/>
                  </a:moveTo>
                  <a:lnTo>
                    <a:pt x="378919" y="0"/>
                  </a:lnTo>
                  <a:lnTo>
                    <a:pt x="0" y="0"/>
                  </a:lnTo>
                  <a:lnTo>
                    <a:pt x="189459" y="294319"/>
                  </a:lnTo>
                  <a:close/>
                </a:path>
              </a:pathLst>
            </a:custGeom>
            <a:solidFill>
              <a:srgbClr val="024A6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59206" y="-26602"/>
              <a:ext cx="260507" cy="18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4300567">
            <a:off x="4975708" y="4249747"/>
            <a:ext cx="2276442" cy="970702"/>
            <a:chOff x="0" y="0"/>
            <a:chExt cx="605738" cy="258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5738" cy="258294"/>
            </a:xfrm>
            <a:custGeom>
              <a:avLst/>
              <a:gdLst/>
              <a:ahLst/>
              <a:cxnLst/>
              <a:rect r="r" b="b" t="t" l="l"/>
              <a:pathLst>
                <a:path h="258294" w="605738">
                  <a:moveTo>
                    <a:pt x="302869" y="258294"/>
                  </a:moveTo>
                  <a:lnTo>
                    <a:pt x="605738" y="0"/>
                  </a:lnTo>
                  <a:lnTo>
                    <a:pt x="0" y="0"/>
                  </a:lnTo>
                  <a:lnTo>
                    <a:pt x="302869" y="258294"/>
                  </a:lnTo>
                  <a:close/>
                </a:path>
              </a:pathLst>
            </a:custGeom>
            <a:solidFill>
              <a:srgbClr val="024A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94647" y="-29175"/>
              <a:ext cx="416445" cy="167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37046" y="2556048"/>
            <a:ext cx="15642022" cy="2322632"/>
            <a:chOff x="0" y="0"/>
            <a:chExt cx="4105418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05418" cy="609600"/>
            </a:xfrm>
            <a:custGeom>
              <a:avLst/>
              <a:gdLst/>
              <a:ahLst/>
              <a:cxnLst/>
              <a:rect r="r" b="b" t="t" l="l"/>
              <a:pathLst>
                <a:path h="609600" w="4105418">
                  <a:moveTo>
                    <a:pt x="390221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105418" y="609600"/>
                  </a:lnTo>
                  <a:lnTo>
                    <a:pt x="390221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5EB0">
                    <a:alpha val="100000"/>
                  </a:srgbClr>
                </a:gs>
                <a:gs pos="50000">
                  <a:srgbClr val="49C388">
                    <a:alpha val="100000"/>
                  </a:srgbClr>
                </a:gs>
                <a:gs pos="100000">
                  <a:srgbClr val="A7D3E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3902218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222689">
            <a:off x="391814" y="2316852"/>
            <a:ext cx="397607" cy="8625670"/>
            <a:chOff x="0" y="0"/>
            <a:chExt cx="104720" cy="22717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20" cy="2271781"/>
            </a:xfrm>
            <a:custGeom>
              <a:avLst/>
              <a:gdLst/>
              <a:ahLst/>
              <a:cxnLst/>
              <a:rect r="r" b="b" t="t" l="l"/>
              <a:pathLst>
                <a:path h="2271781" w="104720">
                  <a:moveTo>
                    <a:pt x="0" y="0"/>
                  </a:moveTo>
                  <a:lnTo>
                    <a:pt x="104720" y="0"/>
                  </a:lnTo>
                  <a:lnTo>
                    <a:pt x="104720" y="2271781"/>
                  </a:lnTo>
                  <a:lnTo>
                    <a:pt x="0" y="2271781"/>
                  </a:lnTo>
                  <a:close/>
                </a:path>
              </a:pathLst>
            </a:custGeom>
            <a:solidFill>
              <a:srgbClr val="C7EC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720" cy="231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222689">
            <a:off x="-35501" y="2964506"/>
            <a:ext cx="397607" cy="8625670"/>
            <a:chOff x="0" y="0"/>
            <a:chExt cx="104720" cy="22717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720" cy="2271781"/>
            </a:xfrm>
            <a:custGeom>
              <a:avLst/>
              <a:gdLst/>
              <a:ahLst/>
              <a:cxnLst/>
              <a:rect r="r" b="b" t="t" l="l"/>
              <a:pathLst>
                <a:path h="2271781" w="104720">
                  <a:moveTo>
                    <a:pt x="0" y="0"/>
                  </a:moveTo>
                  <a:lnTo>
                    <a:pt x="104720" y="0"/>
                  </a:lnTo>
                  <a:lnTo>
                    <a:pt x="104720" y="2271781"/>
                  </a:lnTo>
                  <a:lnTo>
                    <a:pt x="0" y="2271781"/>
                  </a:lnTo>
                  <a:close/>
                </a:path>
              </a:pathLst>
            </a:custGeom>
            <a:solidFill>
              <a:srgbClr val="C7EC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4720" cy="231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30909" y="2517545"/>
            <a:ext cx="8234190" cy="2305573"/>
          </a:xfrm>
          <a:custGeom>
            <a:avLst/>
            <a:gdLst/>
            <a:ahLst/>
            <a:cxnLst/>
            <a:rect r="r" b="b" t="t" l="l"/>
            <a:pathLst>
              <a:path h="2305573" w="8234190">
                <a:moveTo>
                  <a:pt x="0" y="0"/>
                </a:moveTo>
                <a:lnTo>
                  <a:pt x="8234190" y="0"/>
                </a:lnTo>
                <a:lnTo>
                  <a:pt x="8234190" y="2305574"/>
                </a:lnTo>
                <a:lnTo>
                  <a:pt x="0" y="2305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26479" y="6741235"/>
            <a:ext cx="2603047" cy="3517630"/>
          </a:xfrm>
          <a:custGeom>
            <a:avLst/>
            <a:gdLst/>
            <a:ahLst/>
            <a:cxnLst/>
            <a:rect r="r" b="b" t="t" l="l"/>
            <a:pathLst>
              <a:path h="3517630" w="2603047">
                <a:moveTo>
                  <a:pt x="0" y="0"/>
                </a:moveTo>
                <a:lnTo>
                  <a:pt x="2603046" y="0"/>
                </a:lnTo>
                <a:lnTo>
                  <a:pt x="2603046" y="3517630"/>
                </a:lnTo>
                <a:lnTo>
                  <a:pt x="0" y="3517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015557" y="312951"/>
            <a:ext cx="1272443" cy="715749"/>
          </a:xfrm>
          <a:custGeom>
            <a:avLst/>
            <a:gdLst/>
            <a:ahLst/>
            <a:cxnLst/>
            <a:rect r="r" b="b" t="t" l="l"/>
            <a:pathLst>
              <a:path h="715749" w="1272443">
                <a:moveTo>
                  <a:pt x="0" y="0"/>
                </a:moveTo>
                <a:lnTo>
                  <a:pt x="1272443" y="0"/>
                </a:lnTo>
                <a:lnTo>
                  <a:pt x="1272443" y="715749"/>
                </a:lnTo>
                <a:lnTo>
                  <a:pt x="0" y="715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284" r="0" b="-1528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DAHWhZ3909U</dc:identifier>
  <dcterms:modified xsi:type="dcterms:W3CDTF">2011-08-01T06:04:30Z</dcterms:modified>
  <cp:revision>1</cp:revision>
  <dc:title>أزرق أخضر حديث شركة عرض تقديمي</dc:title>
</cp:coreProperties>
</file>